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366760" y="91440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E6FB8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91" y="702991"/>
            <a:ext cx="294803" cy="2948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SENTINEL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66928" y="2148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6FB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AI 2026   ·   SECURITY IN THE AGENTIC FUTURE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66928" y="2542032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security guardrails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AI coding agents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566928" y="437083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agent calls Pounce 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pPr indent="0" marL="0"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adds a dependency — and gets back </a:t>
            </a:r>
            <a:pPr indent="0" marL="0">
              <a:buNone/>
            </a:pPr>
            <a:r>
              <a:rPr lang="en-US" sz="1800" b="1" dirty="0">
                <a:solidFill>
                  <a:srgbClr val="86E0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</a:t>
            </a:r>
            <a:pPr indent="0" marL="0"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800" b="1" dirty="0">
                <a:solidFill>
                  <a:srgbClr val="F2C8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</a:t>
            </a:r>
            <a:pPr indent="0" marL="0"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</a:t>
            </a:r>
            <a:pPr indent="0" marL="0">
              <a:buNone/>
            </a:pPr>
            <a:r>
              <a:rPr lang="en-US" sz="1800" b="1" dirty="0">
                <a:solidFill>
                  <a:srgbClr val="F39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</a:t>
            </a:r>
            <a:pPr indent="0" marL="0"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with evidence and an audit trail.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66928" y="5897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7C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1847088" y="5852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59618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77440" y="5852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296766" y="5852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494" y="59618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27118" y="5852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569050" y="5852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596188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99402" y="5852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309153" y="5852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8881" y="59618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39505" y="5852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Supply-chain risk is now runtime risk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Malware now executes at install time</a:t>
            </a:r>
            <a:pPr indent="0" marL="0">
              <a:buNone/>
            </a:pPr>
            <a:r>
              <a:rPr lang="en-US" sz="16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inside developer machines, CI runners, and AI-agent workflows, before any scanner reacts. Over 99% of it ships through npm.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66490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6654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2202607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092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845,204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MALICIOUS PACKAGES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9727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packages catalogued by Sonatype — 16,279 of them found in Q2 2025 alone.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261104"/>
            <a:ext cx="3009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Sonatype · Open Source Malware Index, Q2 2025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62602" y="1828800"/>
            <a:ext cx="3466490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8634" y="206654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AF2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97" y="220260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0346" y="2651760"/>
            <a:ext cx="30092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3100" dirty="0"/>
          </a:p>
        </p:txBody>
      </p:sp>
      <p:sp>
        <p:nvSpPr>
          <p:cNvPr id="15" name="Text 11"/>
          <p:cNvSpPr/>
          <p:nvPr/>
        </p:nvSpPr>
        <p:spPr>
          <a:xfrm>
            <a:off x="4618634" y="320040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PACKAGES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8634" y="3474720"/>
            <a:ext cx="29727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hijacked by IronWorm — a Rust worm (eBPF rootkit + Tor C2) that steals cloud, Vault &amp; AI keys.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18634" y="4261104"/>
            <a:ext cx="3009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JFrog Security Research · Jun 2026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158277" y="1828800"/>
            <a:ext cx="3466490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4309" y="206654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AF2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0372" y="2202607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96021" y="2651760"/>
            <a:ext cx="30092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3100" dirty="0"/>
          </a:p>
        </p:txBody>
      </p:sp>
      <p:sp>
        <p:nvSpPr>
          <p:cNvPr id="22" name="Text 17"/>
          <p:cNvSpPr/>
          <p:nvPr/>
        </p:nvSpPr>
        <p:spPr>
          <a:xfrm>
            <a:off x="8414309" y="3200400"/>
            <a:ext cx="3009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PACKAGES, 90+ VERSIONS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4309" y="3474720"/>
            <a:ext cx="29727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poisoned in Red Hat's npm scope; install hooks stole Vault, K8s &amp; CI secrets.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14309" y="4261104"/>
            <a:ext cx="3009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“Miasma” mini-Shai-Hulud · 2026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66928" y="4736592"/>
            <a:ext cx="11057839" cy="1335024"/>
          </a:xfrm>
          <a:prstGeom prst="roundRect">
            <a:avLst>
              <a:gd name="adj" fmla="val 8219"/>
            </a:avLst>
          </a:prstGeom>
          <a:solidFill>
            <a:srgbClr val="EAF2FB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66928" y="4736592"/>
            <a:ext cx="82296" cy="1335024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27" name="Shape 22"/>
          <p:cNvSpPr/>
          <p:nvPr/>
        </p:nvSpPr>
        <p:spPr>
          <a:xfrm>
            <a:off x="877824" y="512064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0F6CB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00" y="5291816"/>
            <a:ext cx="370881" cy="37088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847088" y="4974336"/>
            <a:ext cx="950335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install step is the breach point.
</a:t>
            </a:r>
            <a:pPr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coding agents add dependencies faster than security teams can review them — so the control has to run </a:t>
            </a:r>
            <a:pPr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B4F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the install, not after.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policy checkpoint before the agent acts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sits in front of every dependency install, manifest edit, or sensitive tool action</a:t>
            </a:r>
            <a:pPr indent="0" marL="0">
              <a:buNone/>
            </a:pPr>
            <a:r>
              <a:rPr lang="en-US" sz="16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and returns one governed verdict.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4688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3911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8" y="214006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8288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request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279" y="2139696"/>
            <a:ext cx="25884" cy="8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094634" y="1828800"/>
            <a:ext cx="2926080" cy="841248"/>
          </a:xfrm>
          <a:prstGeom prst="roundRect">
            <a:avLst>
              <a:gd name="adj" fmla="val 10870"/>
            </a:avLst>
          </a:prstGeom>
          <a:solidFill>
            <a:srgbClr val="0F6CBD"/>
          </a:solidFill>
          <a:ln/>
          <a:effectLst>
            <a:outerShdw sx="100000" sy="100000" kx="0" ky="0" algn="bl" rotWithShape="0" blurRad="127000" dist="38100" dir="5400000">
              <a:srgbClr val="1A3A5C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77514" y="203911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2B88D8">
              <a:alpha val="7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464" y="214006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290" y="1828800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policy engine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186" y="2139696"/>
            <a:ext cx="25884" cy="8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079541" y="1828800"/>
            <a:ext cx="27432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262421" y="203911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3371" y="2140062"/>
            <a:ext cx="218724" cy="2187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56197" y="1828800"/>
            <a:ext cx="1956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· Warn · Block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12" y="2139696"/>
            <a:ext cx="25884" cy="88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8881567" y="1828800"/>
            <a:ext cx="27432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9064447" y="203911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5397" y="2140062"/>
            <a:ext cx="218724" cy="2187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558223" y="1828800"/>
            <a:ext cx="1956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record → Cosmos DB</a:t>
            </a:r>
            <a:endParaRPr lang="en-US" sz="1450" dirty="0"/>
          </a:p>
        </p:txBody>
      </p:sp>
      <p:sp>
        <p:nvSpPr>
          <p:cNvPr id="23" name="Shape 14"/>
          <p:cNvSpPr/>
          <p:nvPr/>
        </p:nvSpPr>
        <p:spPr>
          <a:xfrm>
            <a:off x="566928" y="3035808"/>
            <a:ext cx="3466490" cy="1993392"/>
          </a:xfrm>
          <a:prstGeom prst="roundRect">
            <a:avLst>
              <a:gd name="adj" fmla="val 5505"/>
            </a:avLst>
          </a:prstGeom>
          <a:solidFill>
            <a:srgbClr val="E9F5E9"/>
          </a:solidFill>
          <a:ln w="15875">
            <a:solidFill>
              <a:srgbClr val="BFE0BF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822960" y="32918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107C10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634" y="3423514"/>
            <a:ext cx="285293" cy="28529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499616" y="3310128"/>
            <a:ext cx="23692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0E6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</a:t>
            </a:r>
            <a:endParaRPr lang="en-US" sz="2100" dirty="0"/>
          </a:p>
        </p:txBody>
      </p:sp>
      <p:sp>
        <p:nvSpPr>
          <p:cNvPr id="27" name="Text 17"/>
          <p:cNvSpPr/>
          <p:nvPr/>
        </p:nvSpPr>
        <p:spPr>
          <a:xfrm>
            <a:off x="841248" y="39684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lodash@4.17.21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841248" y="4334256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Exact, known-safe release. The agent proceeds.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4362602" y="3035808"/>
            <a:ext cx="3466490" cy="1993392"/>
          </a:xfrm>
          <a:prstGeom prst="roundRect">
            <a:avLst>
              <a:gd name="adj" fmla="val 5505"/>
            </a:avLst>
          </a:prstGeom>
          <a:solidFill>
            <a:srgbClr val="FBF1DC"/>
          </a:solidFill>
          <a:ln w="15875">
            <a:solidFill>
              <a:srgbClr val="EED6A2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618634" y="32918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BF7400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0308" y="3423514"/>
            <a:ext cx="285293" cy="28529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95290" y="3310128"/>
            <a:ext cx="23692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</a:t>
            </a:r>
            <a:endParaRPr lang="en-US" sz="2100" dirty="0"/>
          </a:p>
        </p:txBody>
      </p:sp>
      <p:sp>
        <p:nvSpPr>
          <p:cNvPr id="33" name="Text 22"/>
          <p:cNvSpPr/>
          <p:nvPr/>
        </p:nvSpPr>
        <p:spPr>
          <a:xfrm>
            <a:off x="4636922" y="39684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lodash@^4.17.0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4636922" y="4334256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Floating version — pin to an exact release first.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8158277" y="3035808"/>
            <a:ext cx="3466490" cy="1993392"/>
          </a:xfrm>
          <a:prstGeom prst="roundRect">
            <a:avLst>
              <a:gd name="adj" fmla="val 5505"/>
            </a:avLst>
          </a:prstGeom>
          <a:solidFill>
            <a:srgbClr val="FBE9EA"/>
          </a:solidFill>
          <a:ln w="15875">
            <a:solidFill>
              <a:srgbClr val="F1C2C4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8414309" y="32918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C62F33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5982" y="3423514"/>
            <a:ext cx="285293" cy="28529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090965" y="3310128"/>
            <a:ext cx="23692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AE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</a:t>
            </a:r>
            <a:endParaRPr lang="en-US" sz="2100" dirty="0"/>
          </a:p>
        </p:txBody>
      </p:sp>
      <p:sp>
        <p:nvSpPr>
          <p:cNvPr id="39" name="Text 27"/>
          <p:cNvSpPr/>
          <p:nvPr/>
        </p:nvSpPr>
        <p:spPr>
          <a:xfrm>
            <a:off x="8432597" y="3968496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event-stream@3.3.7 · risk 92</a:t>
            </a:r>
            <a:endParaRPr lang="en-US" sz="1350" dirty="0"/>
          </a:p>
        </p:txBody>
      </p:sp>
      <p:sp>
        <p:nvSpPr>
          <p:cNvPr id="40" name="Text 28"/>
          <p:cNvSpPr/>
          <p:nvPr/>
        </p:nvSpPr>
        <p:spPr>
          <a:xfrm>
            <a:off x="8432597" y="4334256"/>
            <a:ext cx="29361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Known-malicious package. Stopped before install.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566928" y="5358384"/>
            <a:ext cx="475488" cy="475488"/>
          </a:xfrm>
          <a:prstGeom prst="roundRect">
            <a:avLst>
              <a:gd name="adj" fmla="val 24000"/>
            </a:avLst>
          </a:prstGeom>
          <a:solidFill>
            <a:srgbClr val="0F6CBD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045" y="5472501"/>
            <a:ext cx="247254" cy="247254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170432" y="5358384"/>
            <a:ext cx="1041775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verdict carries a risk score, evidence, a policy ID, and an audit ID</a:t>
            </a:r>
            <a:pPr indent="0" marL="0">
              <a:buNone/>
            </a:pPr>
            <a:r>
              <a:rPr lang="en-US" sz="14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so each decision is explainable and reviewable.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policy, the whole Microsoft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is a single policy API.</a:t>
            </a:r>
            <a:pPr indent="0" marL="0">
              <a:buNone/>
            </a:pPr>
            <a:r>
              <a:rPr lang="en-US" sz="16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place an agent or developer can introduce risk calls the same checkpoint.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28803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1168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AF2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9" y="2156521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9751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Foundry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26464" y="2340864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calls Pounce before it acts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203704"/>
            <a:ext cx="548640" cy="1865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848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tool call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178808" y="1810512"/>
            <a:ext cx="3200400" cy="1024128"/>
          </a:xfrm>
          <a:prstGeom prst="roundRect">
            <a:avLst>
              <a:gd name="adj" fmla="val 8929"/>
            </a:avLst>
          </a:prstGeom>
          <a:solidFill>
            <a:srgbClr val="0F6CBD"/>
          </a:solidFill>
          <a:ln/>
          <a:effectLst>
            <a:outerShdw sx="100000" sy="100000" kx="0" ky="0" algn="bl" rotWithShape="0" blurRad="127000" dist="38100" dir="5400000">
              <a:srgbClr val="1A3A5C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61688" y="2011680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2B88D8">
              <a:alpha val="7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529" y="2156521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8344" y="1993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038344" y="23408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DCE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policy API + threat feeds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203704"/>
            <a:ext cx="548640" cy="18653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10728" y="1810512"/>
            <a:ext cx="3514039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8293608" y="2011680"/>
            <a:ext cx="31482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6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</a:t>
            </a:r>
            <a:pPr indent="0" marL="0">
              <a:buNone/>
            </a:pPr>
            <a:r>
              <a:rPr lang="en-US" sz="1550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55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</a:t>
            </a:r>
            <a:pPr indent="0" marL="0">
              <a:buNone/>
            </a:pPr>
            <a:r>
              <a:rPr lang="en-US" sz="1550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550" b="1" dirty="0">
                <a:solidFill>
                  <a:srgbClr val="AE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93608" y="2377440"/>
            <a:ext cx="3148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risk score, evidence &amp; auditId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66928" y="30540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BACKED BY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6928" y="3346704"/>
            <a:ext cx="3466490" cy="841248"/>
          </a:xfrm>
          <a:prstGeom prst="roundRect">
            <a:avLst>
              <a:gd name="adj" fmla="val 10870"/>
            </a:avLst>
          </a:prstGeom>
          <a:solidFill>
            <a:srgbClr val="F4F8FD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31520" y="3529584"/>
            <a:ext cx="475488" cy="475488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37" y="3643701"/>
            <a:ext cx="247254" cy="2472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8448" y="3465576"/>
            <a:ext cx="2597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Cosmos DB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298448" y="3776472"/>
            <a:ext cx="2597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durable allow/warn/block audit records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62602" y="3346704"/>
            <a:ext cx="3466490" cy="841248"/>
          </a:xfrm>
          <a:prstGeom prst="roundRect">
            <a:avLst>
              <a:gd name="adj" fmla="val 10870"/>
            </a:avLst>
          </a:prstGeom>
          <a:solidFill>
            <a:srgbClr val="F4F8FD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27194" y="3529584"/>
            <a:ext cx="475488" cy="475488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312" y="3643701"/>
            <a:ext cx="247254" cy="24725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94122" y="3465576"/>
            <a:ext cx="2597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5094122" y="3776472"/>
            <a:ext cx="2597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 &amp; observability on every decision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158277" y="3346704"/>
            <a:ext cx="3466490" cy="841248"/>
          </a:xfrm>
          <a:prstGeom prst="roundRect">
            <a:avLst>
              <a:gd name="adj" fmla="val 10870"/>
            </a:avLst>
          </a:prstGeom>
          <a:solidFill>
            <a:srgbClr val="F4F8FD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322869" y="3529584"/>
            <a:ext cx="475488" cy="475488"/>
          </a:xfrm>
          <a:prstGeom prst="roundRect">
            <a:avLst>
              <a:gd name="adj" fmla="val 24000"/>
            </a:avLst>
          </a:prstGeom>
          <a:solidFill>
            <a:srgbClr val="EAF2F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6986" y="3643701"/>
            <a:ext cx="247254" cy="24725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89797" y="3465576"/>
            <a:ext cx="25978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Key Vault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8889797" y="3776472"/>
            <a:ext cx="2597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secrets &amp; credentials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566928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9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POLICY ALSO GATES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566928" y="4754880"/>
            <a:ext cx="5364328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841248" y="5010912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AF2FB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089" y="5155753"/>
            <a:ext cx="313822" cy="31382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554480" y="5010912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41" name="Text 31"/>
          <p:cNvSpPr/>
          <p:nvPr/>
        </p:nvSpPr>
        <p:spPr>
          <a:xfrm>
            <a:off x="841248" y="5705856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merge gate — the same allow / warn / block policy runs on every dependency change, protecting human and agent pull requests before code lands.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6260440" y="4754880"/>
            <a:ext cx="5364328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6534760" y="5010912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EAF2FB"/>
          </a:solidFill>
          <a:ln/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9601" y="5155753"/>
            <a:ext cx="313822" cy="31382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247992" y="5010912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</a:t>
            </a:r>
            <a:endParaRPr lang="en-US" sz="1600" dirty="0"/>
          </a:p>
        </p:txBody>
      </p:sp>
      <p:sp>
        <p:nvSpPr>
          <p:cNvPr id="46" name="Text 35"/>
          <p:cNvSpPr/>
          <p:nvPr/>
        </p:nvSpPr>
        <p:spPr>
          <a:xfrm>
            <a:off x="6534760" y="5705856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operations dashboard — risk queue, verdict evidence, policy tabs and live feed health, served from the same Azure-backed API.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runs live — not a mock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Foundry agent stopped before install, the bypass caught at commit,</a:t>
            </a:r>
            <a:pPr indent="0" marL="0">
              <a:buNone/>
            </a:pPr>
            <a:r>
              <a:rPr lang="en-US" sz="165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 live Azure-backed operations dashboard.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983480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20665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RUNTIME MOMENT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9536" y="25054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07C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61518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5054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lodash@4.17.21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56032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E9F5E9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E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" y="31089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BF74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21868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3108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lodash@^4.17.0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43400" y="3163824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BF1DC"/>
          </a:solidFill>
          <a:ln/>
        </p:spPr>
      </p:sp>
      <p:sp>
        <p:nvSpPr>
          <p:cNvPr id="15" name="Text 11"/>
          <p:cNvSpPr/>
          <p:nvPr/>
        </p:nvSpPr>
        <p:spPr>
          <a:xfrm>
            <a:off x="4343400" y="3163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59536" y="371246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C62F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8221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7124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event-stream@3.3.7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343400" y="3767328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BE9EA"/>
          </a:solidFill>
          <a:ln/>
        </p:spPr>
      </p:sp>
      <p:sp>
        <p:nvSpPr>
          <p:cNvPr id="20" name="Text 15"/>
          <p:cNvSpPr/>
          <p:nvPr/>
        </p:nvSpPr>
        <p:spPr>
          <a:xfrm>
            <a:off x="4343400" y="3767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E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59536" y="4352544"/>
            <a:ext cx="4398264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59536" y="448056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16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Bypass attempt — </a:t>
            </a:r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edits package.json directly: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9536" y="4828032"/>
            <a:ext cx="4434840" cy="329184"/>
          </a:xfrm>
          <a:prstGeom prst="rect">
            <a:avLst/>
          </a:prstGeom>
          <a:solidFill>
            <a:srgbClr val="F4F8FD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2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scan_manifest  →  blockedCount: 1  →  commit refused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9536" y="521208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checkpoint catches the dependency even when the install command is skipped.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897880" y="1828800"/>
            <a:ext cx="5726887" cy="4249635"/>
          </a:xfrm>
          <a:prstGeom prst="roundRect">
            <a:avLst>
              <a:gd name="adj" fmla="val 215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27000" dist="38100" dir="5400000">
              <a:srgbClr val="1A3A5C">
                <a:alpha val="14000"/>
              </a:srgbClr>
            </a:outerShdw>
          </a:effectLst>
        </p:spPr>
      </p:sp>
      <p:pic>
        <p:nvPicPr>
          <p:cNvPr id="26" name="Image 3" descr="assets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1975104"/>
            <a:ext cx="5434279" cy="364613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080760" y="5657811"/>
            <a:ext cx="53611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2A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Static Web Apps dashboard</a:t>
            </a:r>
            <a:pPr indent="0" marL="0">
              <a:buNone/>
            </a:pPr>
            <a:r>
              <a:rPr lang="en-US" sz="1100" dirty="0">
                <a:solidFill>
                  <a:srgbClr val="55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live Azure-backed API  ·  Cosmos audit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66928" y="5650992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12A45"/>
          </a:solidFill>
          <a:ln/>
        </p:spPr>
      </p:sp>
      <p:sp>
        <p:nvSpPr>
          <p:cNvPr id="29" name="Text 23"/>
          <p:cNvSpPr/>
          <p:nvPr/>
        </p:nvSpPr>
        <p:spPr>
          <a:xfrm>
            <a:off x="841248" y="565099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B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ON AZURE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807208" y="5843016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F6CB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769" y="5939577"/>
            <a:ext cx="209215" cy="20921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82696" y="5760720"/>
            <a:ext cx="1678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agent</a:t>
            </a:r>
            <a:endParaRPr lang="en-US" sz="93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pounce-sentinel-policy-guard</a:t>
            </a:r>
            <a:endParaRPr lang="en-US" sz="930" dirty="0"/>
          </a:p>
        </p:txBody>
      </p:sp>
      <p:sp>
        <p:nvSpPr>
          <p:cNvPr id="33" name="Shape 26"/>
          <p:cNvSpPr/>
          <p:nvPr/>
        </p:nvSpPr>
        <p:spPr>
          <a:xfrm>
            <a:off x="4943018" y="5843016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F6CBD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9578" y="5939577"/>
            <a:ext cx="209215" cy="20921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418506" y="5760720"/>
            <a:ext cx="1678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Functions</a:t>
            </a:r>
            <a:endParaRPr lang="en-US" sz="93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API</a:t>
            </a:r>
            <a:endParaRPr lang="en-US" sz="930" dirty="0"/>
          </a:p>
        </p:txBody>
      </p:sp>
      <p:sp>
        <p:nvSpPr>
          <p:cNvPr id="36" name="Shape 28"/>
          <p:cNvSpPr/>
          <p:nvPr/>
        </p:nvSpPr>
        <p:spPr>
          <a:xfrm>
            <a:off x="7078828" y="5843016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F6CB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5388" y="5939577"/>
            <a:ext cx="209215" cy="20921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554316" y="5760720"/>
            <a:ext cx="1678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Cosmos DB</a:t>
            </a:r>
            <a:endParaRPr lang="en-US" sz="93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store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9214637" y="5843016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F6CBD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1198" y="5939577"/>
            <a:ext cx="209215" cy="20921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690125" y="5760720"/>
            <a:ext cx="1678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</a:t>
            </a:r>
            <a:endParaRPr lang="en-US" sz="93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30" dirty="0">
                <a:solidFill>
                  <a:srgbClr val="E6F0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8686800" y="64008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6FB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TRUSTED-BY-PROMPT TO GOVERNED-BY-POLICY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66928" y="153619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trust checkpoint for agentic software development.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66928" y="2578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turns every risky agent action into a governed security decision — with evidence, auditability, and human review.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66928" y="3611880"/>
            <a:ext cx="346649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8496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2B88D8">
              <a:alpha val="8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3994465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7904" y="3867912"/>
            <a:ext cx="2323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guardrail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4544568"/>
            <a:ext cx="2972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happen before the action runs, not after the breach.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62602" y="3611880"/>
            <a:ext cx="346649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18634" y="38496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2B88D8">
              <a:alpha val="82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475" y="3994465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13578" y="3867912"/>
            <a:ext cx="2323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policy everywhere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618634" y="4544568"/>
            <a:ext cx="2972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Foundry, Azure Functions and GitHub share the same checkpoint.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8277" y="3611880"/>
            <a:ext cx="346649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14309" y="3849624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2B88D8">
              <a:alpha val="82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150" y="3994465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09253" y="3867912"/>
            <a:ext cx="23234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by default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414309" y="4544568"/>
            <a:ext cx="2972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E7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score, evidence and an audit ID on every verdict.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66928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Pounce Sentinel</a:t>
            </a:r>
            <a:pPr indent="0" marL="0">
              <a:buNone/>
            </a:pPr>
            <a:r>
              <a:rPr lang="en-US" sz="1450" dirty="0">
                <a:solidFill>
                  <a:srgbClr val="A7C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Microsoft Build AI 2026   ·   Security in the Agentic Future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Pounce Sentinel</dc:title>
  <dc:subject>PptxGenJS Presentation</dc:subject>
  <dc:creator>Pounce Sentinel</dc:creator>
  <cp:lastModifiedBy>Pounce Sentinel</cp:lastModifiedBy>
  <cp:revision>1</cp:revision>
  <dcterms:created xsi:type="dcterms:W3CDTF">2026-06-07T16:19:47Z</dcterms:created>
  <dcterms:modified xsi:type="dcterms:W3CDTF">2026-06-07T16:19:47Z</dcterms:modified>
</cp:coreProperties>
</file>